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12192000" cy="6858000" type="screen16x9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/>
</file>

<file path=ppt/viewProps.xml><?xml version="1.0" encoding="utf-8"?>
<p:viewPr xmlns:p="http://schemas.openxmlformats.org/presentationml/2006/main" xmlns:a="http://schemas.openxmlformats.org/drawing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heme" Target="theme/theme1.xml"/><Relationship Id="rId103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sp/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_rels/slide7.xml.rels><?xml version="1.0" encoding="UTF-8" standalone="yes"?>
<Relationships xmlns="http://schemas.openxmlformats.org/package/2006/relationships"></Relationships>
</file>

<file path=ppt/slides/_rels/slide8.xml.rels><?xml version="1.0" encoding="UTF-8" standalone="yes"?>
<Relationships xmlns="http://schemas.openxmlformats.org/package/2006/relationships"></Relationships>
</file>

<file path=ppt/slides/_rels/slide9.xml.rels><?xml version="1.0" encoding="UTF-8" standalone="yes"?>
<Relationships xmlns="http://schemas.openxmlformats.org/package/2006/relationships"></Relationships>
</file>

<file path=ppt/slides/_rels/slide10.xml.rels><?xml version="1.0" encoding="UTF-8" standalone="yes"?>
<Relationships xmlns="http://schemas.openxmlformats.org/package/2006/relationships"></Relationships>
</file>

<file path=ppt/slides/_rels/slide11.xml.rels><?xml version="1.0" encoding="UTF-8" standalone="yes"?>
<Relationships xmlns="http://schemas.openxmlformats.org/package/2006/relationships"></Relationships>
</file>

<file path=ppt/slides/_rels/slide12.xml.rels><?xml version="1.0" encoding="UTF-8" standalone="yes"?>
<Relationships xmlns="http://schemas.openxmlformats.org/package/2006/relationships"></Relationships>
</file>

<file path=ppt/slides/_rels/slide13.xml.rels><?xml version="1.0" encoding="UTF-8" standalone="yes"?>
<Relationships xmlns="http://schemas.openxmlformats.org/package/2006/relationships"></Relationships>
</file>

<file path=ppt/slides/_rels/slide14.xml.rels><?xml version="1.0" encoding="UTF-8" standalone="yes"?>
<Relationships xmlns="http://schemas.openxmlformats.org/package/2006/relationships"></Relationships>
</file>

<file path=ppt/slides/_rels/slide15.xml.rels><?xml version="1.0" encoding="UTF-8" standalone="yes"?>
<Relationships xmlns="http://schemas.openxmlformats.org/package/2006/relationships"></Relationships>
</file>

<file path=ppt/slides/_rels/slide16.xml.rels><?xml version="1.0" encoding="UTF-8" standalone="yes"?>
<Relationships xmlns="http://schemas.openxmlformats.org/package/2006/relationships"></Relationships>
</file>

<file path=ppt/slides/_rels/slide17.xml.rels><?xml version="1.0" encoding="UTF-8" standalone="yes"?>
<Relationships xmlns="http://schemas.openxmlformats.org/package/2006/relationships"></Relationships>
</file>

<file path=ppt/slides/_rels/slide18.xml.rels><?xml version="1.0" encoding="UTF-8" standalone="yes"?>
<Relationships xmlns="http://schemas.openxmlformats.org/package/2006/relationships"></Relationships>
</file>

<file path=ppt/slides/_rels/slide19.xml.rels><?xml version="1.0" encoding="UTF-8" standalone="yes"?>
<Relationships xmlns="http://schemas.openxmlformats.org/package/2006/relationships"></Relationships>
</file>

<file path=ppt/slides/_rels/slide20.xml.rels><?xml version="1.0" encoding="UTF-8" standalone="yes"?>
<Relationships xmlns="http://schemas.openxmlformats.org/package/2006/relationships"></Relationships>
</file>

<file path=ppt/slides/_rels/slide21.xml.rels><?xml version="1.0" encoding="UTF-8" standalone="yes"?>
<Relationships xmlns="http://schemas.openxmlformats.org/package/2006/relationships"></Relationships>
</file>

<file path=ppt/slides/_rels/slide22.xml.rels><?xml version="1.0" encoding="UTF-8" standalone="yes"?>
<Relationships xmlns="http://schemas.openxmlformats.org/package/2006/relationships"></Relationships>
</file>

<file path=ppt/slides/_rels/slide23.xml.rels><?xml version="1.0" encoding="UTF-8" standalone="yes"?>
<Relationships xmlns="http://schemas.openxmlformats.org/package/2006/relationships"></Relationships>
</file>

<file path=ppt/slides/_rels/slide24.xml.rels><?xml version="1.0" encoding="UTF-8" standalone="yes"?>
<Relationships xmlns="http://schemas.openxmlformats.org/package/2006/relationships"></Relationships>
</file>

<file path=ppt/slides/_rels/slide25.xml.rels><?xml version="1.0" encoding="UTF-8" standalone="yes"?>
<Relationships xmlns="http://schemas.openxmlformats.org/package/2006/relationships"></Relationships>
</file>

<file path=ppt/slides/_rels/slide26.xml.rels><?xml version="1.0" encoding="UTF-8" standalone="yes"?>
<Relationships xmlns="http://schemas.openxmlformats.org/package/2006/relationships"></Relationships>
</file>

<file path=ppt/slides/_rels/slide27.xml.rels><?xml version="1.0" encoding="UTF-8" standalone="yes"?>
<Relationships xmlns="http://schemas.openxmlformats.org/package/2006/relationships"></Relationships>
</file>

<file path=ppt/slides/_rels/slide28.xml.rels><?xml version="1.0" encoding="UTF-8" standalone="yes"?>
<Relationships xmlns="http://schemas.openxmlformats.org/package/2006/relationships"></Relationships>
</file>

<file path=ppt/slides/_rels/slide29.xml.rels><?xml version="1.0" encoding="UTF-8" standalone="yes"?>
<Relationships xmlns="http://schemas.openxmlformats.org/package/2006/relationships"></Relationships>
</file>

<file path=ppt/slides/_rels/slide30.xml.rels><?xml version="1.0" encoding="UTF-8" standalone="yes"?>
<Relationships xmlns="http://schemas.openxmlformats.org/package/2006/relationships"></Relationships>
</file>

<file path=ppt/slides/_rels/slide31.xml.rels><?xml version="1.0" encoding="UTF-8" standalone="yes"?>
<Relationships xmlns="http://schemas.openxmlformats.org/package/2006/relationships"></Relationships>
</file>

<file path=ppt/slides/_rels/slide32.xml.rels><?xml version="1.0" encoding="UTF-8" standalone="yes"?>
<Relationships xmlns="http://schemas.openxmlformats.org/package/2006/relationships"></Relationships>
</file>

<file path=ppt/slides/_rels/slide33.xml.rels><?xml version="1.0" encoding="UTF-8" standalone="yes"?>
<Relationships xmlns="http://schemas.openxmlformats.org/package/2006/relationships"></Relationships>
</file>

<file path=ppt/slides/_rels/slide34.xml.rels><?xml version="1.0" encoding="UTF-8" standalone="yes"?>
<Relationships xmlns="http://schemas.openxmlformats.org/package/2006/relationships"></Relationships>
</file>

<file path=ppt/slides/_rels/slide35.xml.rels><?xml version="1.0" encoding="UTF-8" standalone="yes"?>
<Relationships xmlns="http://schemas.openxmlformats.org/package/2006/relationships"></Relationships>
</file>

<file path=ppt/slides/_rels/slide36.xml.rels><?xml version="1.0" encoding="UTF-8" standalone="yes"?>
<Relationships xmlns="http://schemas.openxmlformats.org/package/2006/relationships"></Relationships>
</file>

<file path=ppt/slides/_rels/slide37.xml.rels><?xml version="1.0" encoding="UTF-8" standalone="yes"?>
<Relationships xmlns="http://schemas.openxmlformats.org/package/2006/relationships"></Relationships>
</file>

<file path=ppt/slides/_rels/slide38.xml.rels><?xml version="1.0" encoding="UTF-8" standalone="yes"?>
<Relationships xmlns="http://schemas.openxmlformats.org/package/2006/relationships"></Relationships>
</file>

<file path=ppt/slides/_rels/slide39.xml.rels><?xml version="1.0" encoding="UTF-8" standalone="yes"?>
<Relationships xmlns="http://schemas.openxmlformats.org/package/2006/relationships"></Relationships>
</file>

<file path=ppt/slides/_rels/slide40.xml.rels><?xml version="1.0" encoding="UTF-8" standalone="yes"?>
<Relationships xmlns="http://schemas.openxmlformats.org/package/2006/relationships"></Relationships>
</file>

<file path=ppt/slides/_rels/slide41.xml.rels><?xml version="1.0" encoding="UTF-8" standalone="yes"?>
<Relationships xmlns="http://schemas.openxmlformats.org/package/2006/relationships"></Relationships>
</file>

<file path=ppt/slides/_rels/slide42.xml.rels><?xml version="1.0" encoding="UTF-8" standalone="yes"?>
<Relationships xmlns="http://schemas.openxmlformats.org/package/2006/relationships"></Relationships>
</file>

<file path=ppt/slides/_rels/slide43.xml.rels><?xml version="1.0" encoding="UTF-8" standalone="yes"?>
<Relationships xmlns="http://schemas.openxmlformats.org/package/2006/relationships"></Relationships>
</file>

<file path=ppt/slides/_rels/slide44.xml.rels><?xml version="1.0" encoding="UTF-8" standalone="yes"?>
<Relationships xmlns="http://schemas.openxmlformats.org/package/2006/relationships"></Relationships>
</file>

<file path=ppt/slides/_rels/slide45.xml.rels><?xml version="1.0" encoding="UTF-8" standalone="yes"?>
<Relationships xmlns="http://schemas.openxmlformats.org/package/2006/relationships"></Relationships>
</file>

<file path=ppt/slides/_rels/slide46.xml.rels><?xml version="1.0" encoding="UTF-8" standalone="yes"?>
<Relationships xmlns="http://schemas.openxmlformats.org/package/2006/relationships"></Relationships>
</file>

<file path=ppt/slides/_rels/slide47.xml.rels><?xml version="1.0" encoding="UTF-8" standalone="yes"?>
<Relationships xmlns="http://schemas.openxmlformats.org/package/2006/relationships"></Relationships>
</file>

<file path=ppt/slides/_rels/slide48.xml.rels><?xml version="1.0" encoding="UTF-8" standalone="yes"?>
<Relationships xmlns="http://schemas.openxmlformats.org/package/2006/relationships"></Relationships>
</file>

<file path=ppt/slides/_rels/slide49.xml.rels><?xml version="1.0" encoding="UTF-8" standalone="yes"?>
<Relationships xmlns="http://schemas.openxmlformats.org/package/2006/relationships"></Relationships>
</file>

<file path=ppt/slides/_rels/slide50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line"/>
          <p:cNvSpPr/>
          <p:nvPr/>
        </p:nvSpPr>
        <p:spPr>
          <a:xfrm>
            <a:off x="1080000" y="3168000"/>
            <a:ext cx="28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1800000"/>
            <a:ext cx="1008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600" b="1">
                <a:solidFill>
                  <a:srgbClr val="FFFFFF"/>
                </a:solidFill>
                <a:latin typeface="微软雅黑"/>
                <a:ea typeface="微软雅黑"/>
              </a:rPr>
              <a:t>近三年女性盆底功能障碍性疾病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2520000"/>
            <a:ext cx="10080000" cy="90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600" b="1">
                <a:solidFill>
                  <a:srgbClr val="C5A33F"/>
                </a:solidFill>
                <a:latin typeface="微软雅黑"/>
                <a:ea typeface="微软雅黑"/>
              </a:rPr>
              <a:t>非手术治疗效果研究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780000"/>
            <a:ext cx="1008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000" b="0">
                <a:solidFill>
                  <a:srgbClr val="D6E4F0"/>
                </a:solidFill>
                <a:latin typeface="微软雅黑"/>
                <a:ea typeface="微软雅黑"/>
              </a:rPr>
              <a:t>—— 涉及民族、年龄、生活习惯与心理因素的多维度分析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5220000"/>
            <a:ext cx="10080000" cy="54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600" b="0">
                <a:solidFill>
                  <a:srgbClr val="D6E4F0"/>
                </a:solidFill>
                <a:latin typeface="微软雅黑"/>
                <a:ea typeface="微软雅黑"/>
              </a:rPr>
              <a:t>专业培训研讨会   ·   2026年7月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目  录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一、女性盆底功能障碍性疾病（PFD）概述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二、流行病学特征 —— 民族差异分析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三、年龄因素对PFD的影响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四、生活习惯相关危险因素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五、心理因素与PFD的双向关系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六、非手术治疗方法体系总览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67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七、盆底肌训练（PFMT）—— 一线治疗基石</a:t>
            </a:r>
          </a:p>
        </p:txBody>
      </p:sp>
      <p:sp>
        <p:nvSpPr>
          <p:cNvPr id="0" name="tb"/>
          <p:cNvSpPr/>
          <p:nvPr/>
        </p:nvSpPr>
        <p:spPr>
          <a:xfrm>
            <a:off x="900000" y="406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八、生物反馈与电刺激联合治疗</a:t>
            </a:r>
          </a:p>
        </p:txBody>
      </p:sp>
      <p:sp>
        <p:nvSpPr>
          <p:cNvPr id="0" name="tb"/>
          <p:cNvSpPr/>
          <p:nvPr/>
        </p:nvSpPr>
        <p:spPr>
          <a:xfrm>
            <a:off x="900000" y="446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九、磁刺激与物理治疗新技术</a:t>
            </a:r>
          </a:p>
        </p:txBody>
      </p:sp>
      <p:sp>
        <p:nvSpPr>
          <p:cNvPr id="0" name="tb"/>
          <p:cNvSpPr/>
          <p:nvPr/>
        </p:nvSpPr>
        <p:spPr>
          <a:xfrm>
            <a:off x="900000" y="486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十、中医药治疗与中西医结合</a:t>
            </a:r>
          </a:p>
        </p:txBody>
      </p:sp>
      <p:sp>
        <p:nvSpPr>
          <p:cNvPr id="0" name="tb"/>
          <p:cNvSpPr/>
          <p:nvPr/>
        </p:nvSpPr>
        <p:spPr>
          <a:xfrm>
            <a:off x="900000" y="525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十一、心理干预与综合护理策略</a:t>
            </a:r>
          </a:p>
        </p:txBody>
      </p:sp>
      <p:sp>
        <p:nvSpPr>
          <p:cNvPr id="0" name="tb"/>
          <p:cNvSpPr/>
          <p:nvPr/>
        </p:nvSpPr>
        <p:spPr>
          <a:xfrm>
            <a:off x="900000" y="565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十二、综合治疗方案与临床效果评估</a:t>
            </a:r>
          </a:p>
        </p:txBody>
      </p:sp>
      <p:sp>
        <p:nvSpPr>
          <p:cNvPr id="0" name="tb"/>
          <p:cNvSpPr/>
          <p:nvPr/>
        </p:nvSpPr>
        <p:spPr>
          <a:xfrm>
            <a:off x="900000" y="604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十三、2024-2025年最新研究趋势</a:t>
            </a:r>
          </a:p>
        </p:txBody>
      </p:sp>
      <p:sp>
        <p:nvSpPr>
          <p:cNvPr id="0" name="tb"/>
          <p:cNvSpPr/>
          <p:nvPr/>
        </p:nvSpPr>
        <p:spPr>
          <a:xfrm>
            <a:off x="900000" y="644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十四、总结与未来展望</a:t>
            </a:r>
          </a:p>
        </p:txBody>
      </p:sp>
      <p:sp>
        <p:nvSpPr>
          <p:cNvPr id="0" name="tb"/>
          <p:cNvSpPr/>
          <p:nvPr/>
        </p:nvSpPr>
        <p:spPr>
          <a:xfrm>
            <a:off x="900000" y="684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十五、参考文献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第一部分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女性盆底功能障碍性疾病概述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什么是盆底功能障碍性疾病（PFD）？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定义：盆底支持结构（肌肉、筋膜、韧带）损伤或功能减退导致的一组疾病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主要类型：压力性尿失禁（SUI）、盆腔器官脱垂（POP）、性功能障碍、慢性盆腔痛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全球患病率：女性PFD患病率约17.8%~74.07%，部分地区高达70.19%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中国现状：我国女性PFD发病率约40%，产后女性更高，是重要的公共卫生问题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核心病理：盆底肌肉、筋膜、韧带损伤，胶原蛋白代谢异常，雌激素水平下降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高危人群：产后女性、围绝经期/绝经后女性、肥胖者、重体力劳动者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PFD的临床分型与核心症状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压力性尿失禁（SUI）：咳嗽、打喷嚏、运动时漏尿，最常见类型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急迫性尿失禁（UUI）：突发强烈尿意后不自主漏尿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盆腔器官脱垂（POP）：子宫、膀胱、直肠等器官下移，有坠胀感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610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大便失禁/排便困难：肛门括约肌功能减退所致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慢性盆腔疼痛：持续≥6个月的非周期性盆腔疼痛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性功能障碍：性交疼痛、性欲减退、性满意度下降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膀胱过度活动症（OAB）：尿频、尿急，伴或不伴尿失禁</a:t>
            </a:r>
          </a:p>
        </p:txBody>
      </p:sp>
      <p:sp>
        <p:nvSpPr>
          <p:cNvPr id="0" name="tb"/>
          <p:cNvSpPr/>
          <p:nvPr/>
        </p:nvSpPr>
        <p:spPr>
          <a:xfrm>
            <a:off x="720000" y="6120000"/>
            <a:ext cx="10800000" cy="432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注：同一患者常同时存在多种PFD亚型，临床需综合评估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PFD的发病机制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解剖学机制：盆底"吊床"结构受损——韧带松弛、筋膜撕裂、肛提肌断裂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内分泌机制：雌激素↓ → 胶原纤维合成↓ → 盆底组织弹性↓、萎缩变薄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神经肌肉机制：阴部神经损伤 → 盆底肌去神经支配 → 肌力减退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结缔组织机制：Collagen I/III 比例失调 → 组织机械强度降低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分子机制：基质金属蛋白酶（MMPs）异常激活 → 细胞外基质降解加速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腹内压机制：长期高腹压（肥胖、便秘、慢性咳嗽）→ 盆底超负荷</a:t>
            </a:r>
          </a:p>
        </p:txBody>
      </p:sp>
      <p:sp>
        <p:nvSpPr>
          <p:cNvPr id="0" name="tb"/>
          <p:cNvSpPr/>
          <p:nvPr/>
        </p:nvSpPr>
        <p:spPr>
          <a:xfrm>
            <a:off x="720000" y="6120000"/>
            <a:ext cx="10800000" cy="432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理解发病机制有助于制定个体化非手术治疗方案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第二部分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流行病学特征 —— 民族差异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多民族流行病学数据概览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贵州苗族：POP患病率51.00%（最高），UI患病率12.00%（最低）—— 可能因素：负重劳动→POP高发；低脂饮食、较晚绝经→UI低发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贵州布依族：POP患病率17.02%，UI患病率23.40% —— 中等水平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贵州汉族：POP患病率21.00%，UI患病率34.00%（最高）—— 可能与生活方式、分娩方式差异有关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西藏藏族：PFDI-20盆底功能障碍评分显著高于当地汉族（P&lt;0.05）—— 高原环境、多产次、重体力劳动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新疆维族vs汉族：胶原蛋白I/III表达水平差异显著；雌激素受体SNP位点（rs17847075、rs1256049）基因型频率显著不同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多因素Logistic回归证实：年龄、民族、分娩方式是POP和UI的共同独立危险因素（P&lt;0.05）</a:t>
            </a:r>
          </a:p>
        </p:txBody>
      </p:sp>
      <p:sp>
        <p:nvSpPr>
          <p:cNvPr id="0" name="tb"/>
          <p:cNvSpPr/>
          <p:nvPr/>
        </p:nvSpPr>
        <p:spPr>
          <a:xfrm>
            <a:off x="720000" y="6120000"/>
            <a:ext cx="10800000" cy="432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来源：贵州医科大学、西藏自治区横断面研究（2023-2024）、新疆医科大学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不同民族PFD患病率与特点比较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rect"/>
          <p:cNvSpPr/>
          <p:nvPr/>
        </p:nvSpPr>
        <p:spPr>
          <a:xfrm>
            <a:off x="792000" y="1296000"/>
            <a:ext cx="10620000" cy="324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828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民族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POP患病率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UI患病率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分子特征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主要关联因素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620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苗族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51.00%（最高）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12.00%（最低）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待研究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重体力劳动、健康意识低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944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布依族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17.02%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23.40%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待研究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中等程度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268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汉族（贵州）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21.00%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34.00%（最高）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参照组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分娩方式、生活方式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592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藏族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评分显著较高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较高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待研究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高原环境、多产次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916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维族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较高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较高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Col I/III差异\nER基因多态性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遗传背景、胶原代谢</a:t>
            </a:r>
          </a:p>
        </p:txBody>
      </p:sp>
      <p:sp>
        <p:nvSpPr>
          <p:cNvPr id="0" name="tb"/>
          <p:cNvSpPr/>
          <p:nvPr/>
        </p:nvSpPr>
        <p:spPr>
          <a:xfrm>
            <a:off x="720000" y="6120000"/>
            <a:ext cx="10800000" cy="432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数据来源：贵州医科大学、西藏自治区研究（2023-2024）、新疆医科大学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民族差异的深层机制与临床意义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遗传因素：不同民族间胶原蛋白基因、雌激素受体基因（ESR1/ESR2）多态性差异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环境适应：高海拔藏族的盆腔解剖适应性差异，低氧环境影响组织修复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社会经济因素：不同民族地区医疗保健可及性、健康素养水平差异显著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610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劳动模式：苗族女性多从事山地负重劳动 → 慢性腹压增高 → POP风险↑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膳食结构：苗族低脂饮食、多摄入植物性蛋白 → UI风险相对较低（保护因素）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生育模式：不同民族生育次数、分娩方式、产后休养习俗差异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临床启示：民族针对性预防策略 → 少数民族地区应加强盆底健康教育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第三部分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年龄因素对PFD的影响</a:t>
            </a:r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年龄：PFD最重要的不可控危险因素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🔑 年龄每增加1岁 → 盆底肌力异常风险增加1.181倍（OR=1.181，邯郸市1532例调查，2025）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🔑 35岁以后女性POP发生风险是年轻女性的2.44倍；50岁以后为1.86倍（2024专家共识）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🔑 &gt;55岁老年女性PFD患病率达48.60%，呈持续上升趋势（浙江临床医学，2025）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🔑 SUI患病率高峰在45-59岁（EAU指南，2025）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🔑 绝经是PFD显著危险因素（OR=2.686）—— 雌激素水平断崖式下降是关键机制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🔑 绝经年龄越早，PFD发病风险越高 —— 观察组绝经年龄49.33±3.71岁 vs 对照组54.01±4.28岁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67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🔑 年龄效应贯穿PFD全程：从产后、围绝经到老年期，各阶段干预策略不同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年龄相关PFD的生理机制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雌激素下降：绝经后E2水平↓ → 盆底组织胶原合成↓50%以上 → 组织萎缩松弛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肌肉衰减：随年龄增长盆底肌纤维数量↓、肌力↓，快肌纤维（II型）减少尤其明显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神经退行性变：阴部神经传导速度减慢 → 盆底肌反应延迟 → 控尿能力↓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筋膜弹性退化：盆内筋膜弹性纤维断裂，韧性降低 → 器官支撑力下降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累积暴露效应：年龄越大，生育、便秘、重体力劳动等危险因素累积暴露时间越长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合并症累积：高血压、糖尿病、慢性呼吸道疾病等随年龄增加而累积 → 加重PFD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不同年龄段PFD防治策略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rect"/>
          <p:cNvSpPr/>
          <p:nvPr/>
        </p:nvSpPr>
        <p:spPr>
          <a:xfrm>
            <a:off x="792000" y="1296000"/>
            <a:ext cx="10620000" cy="324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828000" y="1314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年龄段</a:t>
            </a:r>
          </a:p>
        </p:txBody>
      </p:sp>
      <p:sp>
        <p:nvSpPr>
          <p:cNvPr id="0" name="tb"/>
          <p:cNvSpPr/>
          <p:nvPr/>
        </p:nvSpPr>
        <p:spPr>
          <a:xfrm>
            <a:off x="3483000" y="1314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PFD风险特征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1314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防治重点</a:t>
            </a:r>
          </a:p>
        </p:txBody>
      </p:sp>
      <p:sp>
        <p:nvSpPr>
          <p:cNvPr id="0" name="tb"/>
          <p:cNvSpPr/>
          <p:nvPr/>
        </p:nvSpPr>
        <p:spPr>
          <a:xfrm>
            <a:off x="8793000" y="1314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推荐非手术治疗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620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1638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孕产期（20-40岁）</a:t>
            </a:r>
          </a:p>
        </p:txBody>
      </p:sp>
      <p:sp>
        <p:nvSpPr>
          <p:cNvPr id="0" name="tb"/>
          <p:cNvSpPr/>
          <p:nvPr/>
        </p:nvSpPr>
        <p:spPr>
          <a:xfrm>
            <a:off x="3483000" y="1638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妊娠+分娩损伤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1638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产后42天盆底评估\n产后康复黄金期</a:t>
            </a:r>
          </a:p>
        </p:txBody>
      </p:sp>
      <p:sp>
        <p:nvSpPr>
          <p:cNvPr id="0" name="tb"/>
          <p:cNvSpPr/>
          <p:nvPr/>
        </p:nvSpPr>
        <p:spPr>
          <a:xfrm>
            <a:off x="8793000" y="1638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PFMT、生物反馈、\n产后康复操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944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1962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围绝经期（40-55岁）</a:t>
            </a:r>
          </a:p>
        </p:txBody>
      </p:sp>
      <p:sp>
        <p:nvSpPr>
          <p:cNvPr id="0" name="tb"/>
          <p:cNvSpPr/>
          <p:nvPr/>
        </p:nvSpPr>
        <p:spPr>
          <a:xfrm>
            <a:off x="3483000" y="1962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雌激素波动式下降\nPFD加速进展期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1962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激素评估+盆底筛查\n生活方式干预</a:t>
            </a:r>
          </a:p>
        </p:txBody>
      </p:sp>
      <p:sp>
        <p:nvSpPr>
          <p:cNvPr id="0" name="tb"/>
          <p:cNvSpPr/>
          <p:nvPr/>
        </p:nvSpPr>
        <p:spPr>
          <a:xfrm>
            <a:off x="8793000" y="1962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PFMT+电刺激、\n磁刺激、激光治疗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268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2286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绝经后期（55-65岁）</a:t>
            </a:r>
          </a:p>
        </p:txBody>
      </p:sp>
      <p:sp>
        <p:nvSpPr>
          <p:cNvPr id="0" name="tb"/>
          <p:cNvSpPr/>
          <p:nvPr/>
        </p:nvSpPr>
        <p:spPr>
          <a:xfrm>
            <a:off x="3483000" y="2286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雌激素持续低水平\nPOP高发期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2286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综合评估、多学科管理\n阴道雌激素+盆底康复</a:t>
            </a:r>
          </a:p>
        </p:txBody>
      </p:sp>
      <p:sp>
        <p:nvSpPr>
          <p:cNvPr id="0" name="tb"/>
          <p:cNvSpPr/>
          <p:nvPr/>
        </p:nvSpPr>
        <p:spPr>
          <a:xfrm>
            <a:off x="8793000" y="2286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联合治疗：PFMT+电刺激\n+中医+阴道雌激素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592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2610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老年期（&gt;65岁）</a:t>
            </a:r>
          </a:p>
        </p:txBody>
      </p:sp>
      <p:sp>
        <p:nvSpPr>
          <p:cNvPr id="0" name="tb"/>
          <p:cNvSpPr/>
          <p:nvPr/>
        </p:nvSpPr>
        <p:spPr>
          <a:xfrm>
            <a:off x="3483000" y="2610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合并症多、肌力差\n治疗依从性下降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2610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安全优先、个体化\n家庭支持、心理关怀</a:t>
            </a:r>
          </a:p>
        </p:txBody>
      </p:sp>
      <p:sp>
        <p:nvSpPr>
          <p:cNvPr id="0" name="tb"/>
          <p:cNvSpPr/>
          <p:nvPr/>
        </p:nvSpPr>
        <p:spPr>
          <a:xfrm>
            <a:off x="8793000" y="2610000"/>
            <a:ext cx="2583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温和PFMT、居家训练\n数字化远程康复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第四部分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生活习惯相关危险因素</a:t>
            </a:r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九大可改变的生活习惯危险因素（2025年最新数据）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❶ 久坐不动：OR=2.834 —— 盆底肌力异常的最强预测因素，每45分钟应起身活动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❷ 腹型肥胖：OR=2.318 —— BMI&gt;30者盆底疾病风险增加2倍；目标BMI&lt;24、腰围&lt;85cm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❸ 重体力劳动：OR=2.339 —— 长期负重、高强度劳动导致慢性腹压增高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❹ 长期便秘：OR=2.152 —— 排便时用力屏气 → 盆底反复超负荷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❺ 如厕时间≥10分钟：OR=1.964 —— 应控制在5分钟以内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❻ 焦虑：OR=1.815 —— 精神心理因素对盆底功能有直接负面影响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67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❼ 性生活频率≥3次/周：OR=1.690 —— 盆底肌持续高张力的潜在影响（2025新发现）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406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❽ 吸烟/饮酒：多项研究确认为PFD危险因素；慢性咳嗽加重腹压</a:t>
            </a:r>
          </a:p>
        </p:txBody>
      </p:sp>
      <p:sp>
        <p:nvSpPr>
          <p:cNvPr id="0" name="tb"/>
          <p:cNvSpPr/>
          <p:nvPr/>
        </p:nvSpPr>
        <p:spPr>
          <a:xfrm>
            <a:off x="900000" y="446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❾ 长期站立/高跟鞋：女教师人群中两者均为SUI/POP独立危险因素</a:t>
            </a:r>
          </a:p>
        </p:txBody>
      </p:sp>
      <p:sp>
        <p:nvSpPr>
          <p:cNvPr id="0" name="tb"/>
          <p:cNvSpPr/>
          <p:nvPr/>
        </p:nvSpPr>
        <p:spPr>
          <a:xfrm>
            <a:off x="720000" y="6120000"/>
            <a:ext cx="10800000" cy="432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来源：邯郸市1532名成年女性调查（2025）、重庆市1342例女教师调查（2024）、EAU指南（2025）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生活方式的保护因素与预防建议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规律运动：游泳、骑行等低冲击有氧运动优先；避免高强度跑跳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凯格尔运动：每天3组×8-12次收缩，每次保持6-8秒，持之以恒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体重管理：BMI控制在18.5-24 kg/m²，腰围&lt;85cm（中国女性标准）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610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排便习惯：增加膳食纤维（≥25g/天）、充足饮水（&gt;1.5L/天）、定时排便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戒烟限酒：吸烟者PFD风险显著升高；限制酒精摄入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腹压管理：治疗慢性咳嗽、过敏性鼻炎、避免长期束腹带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正确姿势：减少久坐时间，避免长时间蹲姿；搬重物时屈膝不弯腰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610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产后护理：产后6周行盆底肌力评估，肌力≤3级者应接受康复治疗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第五部分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心理因素与PFD的双向关系</a:t>
            </a:r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PFD患者心理问题的流行病学与影响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🔴 约30%的PFD患者伴随焦虑症状（焦虑发生率30.9%，抑郁发生率30.3%）—— 2025年综述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🔴 PFIQ-7盆底功能评分与抑郁、焦虑、失眠显著正相关（P&lt;0.0001，Molina-Barea 2024）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🔴 焦虑程度与盆底肌筋膜疼痛程度显著正相关（r=0.411, P=0.002，刘小梦等 2025）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🔴 PFD症状越重 → 生活质量越低 → 心理困扰越深 → 形成恶性循环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🔴 关键问题：PFD是心理困扰的"因"还是"果"？—— 成功治疗PFD后焦虑/抑郁显著改善（Kalata 2024），支持PFD→心理困扰的因果方向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🔴 心理困扰使患者治疗依从性↓45% → 非手术治疗效果大打折扣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心理干预在PFD治疗中的重要作用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正念认知疗法：12周干预 → PFDI-20评分↓21.9%、GDS-15抑郁评分↓25.9%、SF-36生活质量↑10.8%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多学科心理支持团队：精神科医师+盆底康复师+护理专家 → 协同管理身心症状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循证理念整体护理：涵盖疾病认知纠正+盆底锻炼指导+心理疏导+家庭支持+生活指导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盆底康复操+音乐放松训练：自然分娩产妇SAS焦虑↓、SDS抑郁↓、GQOLI-74生活质量↑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Greene健康教育模式：健康知识讲解+行为指导+心理支持 → 消除误解与恐惧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Newman护理模式（整体系统护理）：SAS/SDS评分显著降低，盆底肌力等级↑，SF-36↑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心理健康评估与筛查建议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评估时机：PFD初诊时、治疗开始前、治疗后4周、12周各评估一次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推荐量表：GAD-7（广泛性焦虑）、PHQ-9（患者健康问卷抑郁量表）、HADS（医院焦虑抑郁量表）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评估维度：焦虑、抑郁、躯体化症状、睡眠质量、性心理健康、社会功能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高危识别：既往精神病史、社会支持不足、PFD症状严重、治疗期望不现实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转诊指征：重度焦虑/抑郁（PHQ-9≥15或GAD-7≥15）→ 转精神科/心理科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健康教育要点：帮助患者理解PFD是可治疗的，减轻羞耻感与病耻感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第六部分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非手术治疗方法体系总览</a:t>
            </a:r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非手术治疗方法分类与证据等级（2024-2025）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rect"/>
          <p:cNvSpPr/>
          <p:nvPr/>
        </p:nvSpPr>
        <p:spPr>
          <a:xfrm>
            <a:off x="792000" y="1296000"/>
            <a:ext cx="10620000" cy="324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828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治疗类别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代表方法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证据等级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适用人群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疗程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620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盆底肌训练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Kegel训练、功能性PFMT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A级（最高）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所有PFD患者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≥12周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944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生物反馈疗法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EMG生物反馈、\n压力生物反馈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A级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盆底肌感知差者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8-12周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268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电刺激治疗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阴道内电刺激、\n体表电刺激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A级（联合PFMT）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SUI、肌力极弱者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8-12周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592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磁刺激治疗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体外盆底磁刺激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B级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围绝经期PFD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4-8周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916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激光/射频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CO₂点阵激光、射频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B级（新兴）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轻中度SUI、\n阴道松弛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3-5次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3240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中医药治疗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补中益气汤、针灸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B级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中老年FPFD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8-12周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3564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358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再生医学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358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PRP、干细胞注射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358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C级（探索）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358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研究阶段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358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个体化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3888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390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数字化康复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390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mHealth APP+PFMT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390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B级（新兴）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390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依从性不足者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390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≥8周</a:t>
            </a:r>
          </a:p>
        </p:txBody>
      </p:sp>
      <p:sp>
        <p:nvSpPr>
          <p:cNvPr id="0" name="tb"/>
          <p:cNvSpPr/>
          <p:nvPr/>
        </p:nvSpPr>
        <p:spPr>
          <a:xfrm>
            <a:off x="720000" y="6120000"/>
            <a:ext cx="10800000" cy="432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注：A级=Cochrane/Meta分析支持；B级=高质量RCT支持；C级=初步临床证据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第七部分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盆底肌训练（PFMT）—— 一线治疗基石</a:t>
            </a:r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PFMT的核心循证证据（Cochrane 2024更新）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📊 Cochrane系统评价（2024）：纳入63项RCT、4920例女性 —— PFMT是目前证据最充分的PFD保守治疗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📊 直接PFMT（孤立盆底肌收缩）优于间接训练 —— 生活质量改善 SMD=0.70（低确定性证据）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📊 绝经后女性PFMT效果：SUI严重程度显著降低 SMD=-1.30（95%CI -1.97~-0.62），92%概率获益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📊 慢性盆腔痛：荟萃8项RCT，PFMT显著减轻疼痛 SMD=-1.25~-1.30，改善肌力和生活质量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📊 功能性PFMT（融合核心肌群协同收缩+多体位训练）优于传统PFMT —— 肌力↑、漏尿量↓、依从率↑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📊 个体vs团体督导：效果差异无统计学意义（中等确定性证据）—— 均可推荐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67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📊 e-Health远程PFMT：优于书面指导，接近面对面指导效果 —— 提高可及性的有效方案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PFMT的实施要点与技术规范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训练频率：每天3组×8-12次收缩，每周坚持5-7天，至少持续12周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收缩保持：每次收缩保持6-8秒 → 充分放松6-8秒 → 避免肌肉疲劳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正确技巧：只收缩盆底肌 → 避免腹肌、臀部、大腿内收肌代偿 → 配合呼吸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610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体位进阶：仰卧→坐位→站立→行走中训练 → 逐步增加难度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核心协同：功能性PFMT融合膈肌呼吸+腹横肌激活+多裂肌协同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监督模式：初始阶段建议专业人士指导 → 确认动作正确后过渡至家庭训练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依从性提升：使用手机APP提醒+训练日志+可视化进度反馈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第八部分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生物反馈与电刺激联合治疗</a:t>
            </a:r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生物反馈电刺激联合治疗的核心证据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Meta分析（Li等，2025）：8项研究、885名SUI患者 —— PFMT+电刺激联合治疗显著优于单一治疗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尿失禁症状改善：OR=1.42（95%CI 1.10-1.85）；盆底肌力提高：OR=1.55（95%CI 1.20-2.05）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生活质量提升：OR=4.29（95%CI 3.68-4.99）—— 联合治疗对生活质量的改善效果最为突出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盆底磁刺激+肌电生物反馈（邓米娜等，2025）：围绝经期PFD总有效率97.10% vs 单一88.24%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Greene健康教育+生物反馈电刺激+Kegel（Yuan 2024）：焦虑/抑郁↓、性生活质量↑、盆底肌力↑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🔬 阴道内电刺激（IVES）系统评价（2025）：32项RCT，75%报告尿垫使用显著减少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生物反馈与电刺激的操作技术要点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生物反馈原理：阴道/肛门内置传感器 → 实时显示盆底肌活动 → 视觉/听觉反馈指导训练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电刺激参数：频率20-50Hz（SUI）、5-10Hz（OAB/UUI）；脉宽200-400μs；强度"感觉阈-运动阈"之间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治疗频次：每次20-30分钟，每周2-3次，8-12周为一疗程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联合模式：先电刺激被动激活肌肉（10-15min）→ 再生物反馈主动训练（10-15min）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个体化处方：根据盆底肌力分级（Oxford 0-5级）制定不同的电刺激-生物反馈方案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禁忌症：妊娠期、盆腔急性感染、恶性肿瘤、心脏起搏器、严重心律失常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第九部分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磁刺激与物理治疗新技术</a:t>
            </a:r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2024-2025年物理治疗新技术亮点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⚡ HIFEM（高强度聚焦电磁刺激）：非侵入性诱发深层盆底肌高强度收缩，8-12次/4-6周，疗效维持6-18个月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⚡ Li-ESWT（低强度体外冲击波）：促进血管生成+肌肉再生，6次/8周，疗效维持12-24个月，无创安全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⚡ 盆底磁刺激（FMS）：体外磁场穿透 → 无痛激活盆底神经肌肉 → 围绝经期PFD联合治疗有效率97.10%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⚡ CO₂点阵激光：促进阴道黏膜新胶原形成 → 改善尿道/阴道结缔组织松弛，3-5次可维持12-24个月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⚡ 射频治疗（RF）：热效应使胶原纤维即刻收缩+长期新生重塑 → 阴道紧致+轻度SUI改善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⚡ 功能性PFMT：核心肌群协同收缩+多体位训练 → 优于传统孤立PFMT（中国康复研究中心，2025）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新兴物理治疗技术对比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rect"/>
          <p:cNvSpPr/>
          <p:nvPr/>
        </p:nvSpPr>
        <p:spPr>
          <a:xfrm>
            <a:off x="792000" y="1296000"/>
            <a:ext cx="10620000" cy="324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828000" y="131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技术</a:t>
            </a:r>
          </a:p>
        </p:txBody>
      </p:sp>
      <p:sp>
        <p:nvSpPr>
          <p:cNvPr id="0" name="tb"/>
          <p:cNvSpPr/>
          <p:nvPr/>
        </p:nvSpPr>
        <p:spPr>
          <a:xfrm>
            <a:off x="2598000" y="131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原理</a:t>
            </a:r>
          </a:p>
        </p:txBody>
      </p:sp>
      <p:sp>
        <p:nvSpPr>
          <p:cNvPr id="0" name="tb"/>
          <p:cNvSpPr/>
          <p:nvPr/>
        </p:nvSpPr>
        <p:spPr>
          <a:xfrm>
            <a:off x="4368000" y="131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疗程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131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疗效维持</a:t>
            </a:r>
          </a:p>
        </p:txBody>
      </p:sp>
      <p:sp>
        <p:nvSpPr>
          <p:cNvPr id="0" name="tb"/>
          <p:cNvSpPr/>
          <p:nvPr/>
        </p:nvSpPr>
        <p:spPr>
          <a:xfrm>
            <a:off x="7908000" y="131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适用场景</a:t>
            </a:r>
          </a:p>
        </p:txBody>
      </p:sp>
      <p:sp>
        <p:nvSpPr>
          <p:cNvPr id="0" name="tb"/>
          <p:cNvSpPr/>
          <p:nvPr/>
        </p:nvSpPr>
        <p:spPr>
          <a:xfrm>
            <a:off x="9678000" y="131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2025证据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620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1638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HIFEM</a:t>
            </a:r>
          </a:p>
        </p:txBody>
      </p:sp>
      <p:sp>
        <p:nvSpPr>
          <p:cNvPr id="0" name="tb"/>
          <p:cNvSpPr/>
          <p:nvPr/>
        </p:nvSpPr>
        <p:spPr>
          <a:xfrm>
            <a:off x="2598000" y="1638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聚焦电磁→超强肌缩</a:t>
            </a:r>
          </a:p>
        </p:txBody>
      </p:sp>
      <p:sp>
        <p:nvSpPr>
          <p:cNvPr id="0" name="tb"/>
          <p:cNvSpPr/>
          <p:nvPr/>
        </p:nvSpPr>
        <p:spPr>
          <a:xfrm>
            <a:off x="4368000" y="1638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8-12次/4-6周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1638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6-18个月</a:t>
            </a:r>
          </a:p>
        </p:txBody>
      </p:sp>
      <p:sp>
        <p:nvSpPr>
          <p:cNvPr id="0" name="tb"/>
          <p:cNvSpPr/>
          <p:nvPr/>
        </p:nvSpPr>
        <p:spPr>
          <a:xfrm>
            <a:off x="7908000" y="1638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盆底肌力弱者</a:t>
            </a:r>
          </a:p>
        </p:txBody>
      </p:sp>
      <p:sp>
        <p:nvSpPr>
          <p:cNvPr id="0" name="tb"/>
          <p:cNvSpPr/>
          <p:nvPr/>
        </p:nvSpPr>
        <p:spPr>
          <a:xfrm>
            <a:off x="9678000" y="1638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Meta分析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944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1962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Li-ESWT</a:t>
            </a:r>
          </a:p>
        </p:txBody>
      </p:sp>
      <p:sp>
        <p:nvSpPr>
          <p:cNvPr id="0" name="tb"/>
          <p:cNvSpPr/>
          <p:nvPr/>
        </p:nvSpPr>
        <p:spPr>
          <a:xfrm>
            <a:off x="2598000" y="1962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冲击波→血管+肌肉再生</a:t>
            </a:r>
          </a:p>
        </p:txBody>
      </p:sp>
      <p:sp>
        <p:nvSpPr>
          <p:cNvPr id="0" name="tb"/>
          <p:cNvSpPr/>
          <p:nvPr/>
        </p:nvSpPr>
        <p:spPr>
          <a:xfrm>
            <a:off x="4368000" y="1962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6次/8周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1962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12-24个月</a:t>
            </a:r>
          </a:p>
        </p:txBody>
      </p:sp>
      <p:sp>
        <p:nvSpPr>
          <p:cNvPr id="0" name="tb"/>
          <p:cNvSpPr/>
          <p:nvPr/>
        </p:nvSpPr>
        <p:spPr>
          <a:xfrm>
            <a:off x="7908000" y="1962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SUI、慢性盆腔痛</a:t>
            </a:r>
          </a:p>
        </p:txBody>
      </p:sp>
      <p:sp>
        <p:nvSpPr>
          <p:cNvPr id="0" name="tb"/>
          <p:cNvSpPr/>
          <p:nvPr/>
        </p:nvSpPr>
        <p:spPr>
          <a:xfrm>
            <a:off x="9678000" y="1962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多项RCT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268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2286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磁刺激</a:t>
            </a:r>
          </a:p>
        </p:txBody>
      </p:sp>
      <p:sp>
        <p:nvSpPr>
          <p:cNvPr id="0" name="tb"/>
          <p:cNvSpPr/>
          <p:nvPr/>
        </p:nvSpPr>
        <p:spPr>
          <a:xfrm>
            <a:off x="2598000" y="2286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体外磁场→神经肌肉激活</a:t>
            </a:r>
          </a:p>
        </p:txBody>
      </p:sp>
      <p:sp>
        <p:nvSpPr>
          <p:cNvPr id="0" name="tb"/>
          <p:cNvSpPr/>
          <p:nvPr/>
        </p:nvSpPr>
        <p:spPr>
          <a:xfrm>
            <a:off x="4368000" y="2286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2-3次/周×8周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2286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6-12个月</a:t>
            </a:r>
          </a:p>
        </p:txBody>
      </p:sp>
      <p:sp>
        <p:nvSpPr>
          <p:cNvPr id="0" name="tb"/>
          <p:cNvSpPr/>
          <p:nvPr/>
        </p:nvSpPr>
        <p:spPr>
          <a:xfrm>
            <a:off x="7908000" y="2286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围绝经期PFD</a:t>
            </a:r>
          </a:p>
        </p:txBody>
      </p:sp>
      <p:sp>
        <p:nvSpPr>
          <p:cNvPr id="0" name="tb"/>
          <p:cNvSpPr/>
          <p:nvPr/>
        </p:nvSpPr>
        <p:spPr>
          <a:xfrm>
            <a:off x="9678000" y="2286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97.10%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592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2610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CO₂激光</a:t>
            </a:r>
          </a:p>
        </p:txBody>
      </p:sp>
      <p:sp>
        <p:nvSpPr>
          <p:cNvPr id="0" name="tb"/>
          <p:cNvSpPr/>
          <p:nvPr/>
        </p:nvSpPr>
        <p:spPr>
          <a:xfrm>
            <a:off x="2598000" y="2610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热损伤→新胶原形成</a:t>
            </a:r>
          </a:p>
        </p:txBody>
      </p:sp>
      <p:sp>
        <p:nvSpPr>
          <p:cNvPr id="0" name="tb"/>
          <p:cNvSpPr/>
          <p:nvPr/>
        </p:nvSpPr>
        <p:spPr>
          <a:xfrm>
            <a:off x="4368000" y="2610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3-5次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2610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12-24个月</a:t>
            </a:r>
          </a:p>
        </p:txBody>
      </p:sp>
      <p:sp>
        <p:nvSpPr>
          <p:cNvPr id="0" name="tb"/>
          <p:cNvSpPr/>
          <p:nvPr/>
        </p:nvSpPr>
        <p:spPr>
          <a:xfrm>
            <a:off x="7908000" y="2610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轻中度SUI、阴道松弛</a:t>
            </a:r>
          </a:p>
        </p:txBody>
      </p:sp>
      <p:sp>
        <p:nvSpPr>
          <p:cNvPr id="0" name="tb"/>
          <p:cNvSpPr/>
          <p:nvPr/>
        </p:nvSpPr>
        <p:spPr>
          <a:xfrm>
            <a:off x="9678000" y="2610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RCT+Meta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916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293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射频</a:t>
            </a:r>
          </a:p>
        </p:txBody>
      </p:sp>
      <p:sp>
        <p:nvSpPr>
          <p:cNvPr id="0" name="tb"/>
          <p:cNvSpPr/>
          <p:nvPr/>
        </p:nvSpPr>
        <p:spPr>
          <a:xfrm>
            <a:off x="2598000" y="293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热效应→胶原重塑</a:t>
            </a:r>
          </a:p>
        </p:txBody>
      </p:sp>
      <p:sp>
        <p:nvSpPr>
          <p:cNvPr id="0" name="tb"/>
          <p:cNvSpPr/>
          <p:nvPr/>
        </p:nvSpPr>
        <p:spPr>
          <a:xfrm>
            <a:off x="4368000" y="293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3-6次</a:t>
            </a:r>
          </a:p>
        </p:txBody>
      </p:sp>
      <p:sp>
        <p:nvSpPr>
          <p:cNvPr id="0" name="tb"/>
          <p:cNvSpPr/>
          <p:nvPr/>
        </p:nvSpPr>
        <p:spPr>
          <a:xfrm>
            <a:off x="6138000" y="293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6-18个月</a:t>
            </a:r>
          </a:p>
        </p:txBody>
      </p:sp>
      <p:sp>
        <p:nvSpPr>
          <p:cNvPr id="0" name="tb"/>
          <p:cNvSpPr/>
          <p:nvPr/>
        </p:nvSpPr>
        <p:spPr>
          <a:xfrm>
            <a:off x="7908000" y="293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阴道松弛、轻度SUI</a:t>
            </a:r>
          </a:p>
        </p:txBody>
      </p:sp>
      <p:sp>
        <p:nvSpPr>
          <p:cNvPr id="0" name="tb"/>
          <p:cNvSpPr/>
          <p:nvPr/>
        </p:nvSpPr>
        <p:spPr>
          <a:xfrm>
            <a:off x="9678000" y="2934000"/>
            <a:ext cx="1698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初步RCT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第十部分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中医药治疗与中西医结合</a:t>
            </a:r>
          </a:p>
        </p:txBody>
      </p:sp>
    </p:spTree>
  </p:cSld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补中益气汤联合生物反馈电刺激：多项2025研究验证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🌟 常熟市中医院（陆燕等，2025）：补中益气颗粒+电刺激 → ICI-Q-SF评分显著↓、盆底肌力↑、SOD/GSH-Px抗氧化指标↑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🌟 南昌大学二附院（平璐依等，2025）：三维盆底超声客观评估 → BND↓、URA↓、LHA↓（肛提肌裂孔面积缩小）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🌟 机制分析：补中益气 → 升阳举陷 → 增强盆底组织张力；调节胶原代谢 → 促进组织修复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🌟 现代药理：黄芪、升麻、柴胡含异黄酮类物质 → 类雌激素样作用 → 协同盆底康复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🌟 中西医协同优势：西医物理治疗"修复结构"+中医内调"补益气血" → 标本兼治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🌟 综合疗效：联合治疗总有效率显著高于单一西医治疗，且不良反应少，远期复发率低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中医药在PFD中的整体治疗方案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内服方剂：补中益气汤加减（黄芪、党参、白术、升麻、柴胡、当归、陈皮、甘草）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针灸疗法：取穴——关元、气海、中极、足三里、三阴交、肾俞、次髎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艾灸疗法：温灸关元、神阙 → 温阳固脱 → 适用于虚寒体质PFD患者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610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中药熏蒸/坐浴：蛇床子、苦参、黄柏熏蒸 → 改善阴道局部血液循环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推拿按摩：特定穴位按摩 → 改善盆腔气血运行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辨证分型：气虚下陷型（最常见）、肾虚不固型、湿热下注型 → 个体化方药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中药+盆底康复：中西医联合方案——2024-2025年多中心RCT证实疗效优越</a:t>
            </a:r>
          </a:p>
        </p:txBody>
      </p:sp>
      <p:sp>
        <p:nvSpPr>
          <p:cNvPr id="0" name="tb"/>
          <p:cNvSpPr/>
          <p:nvPr/>
        </p:nvSpPr>
        <p:spPr>
          <a:xfrm>
            <a:off x="720000" y="6120000"/>
            <a:ext cx="10800000" cy="432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注意事项：中药需在中医师辨证指导下使用，避免盲目自行服药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第十一部分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心理干预与综合护理策略</a:t>
            </a:r>
          </a:p>
        </p:txBody>
      </p:sp>
    </p:spTree>
  </p:cSld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多学科心理支持的核心模式（2024-2025 循证）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🧠 多学科团队构成：盆底康复师+精神心理科医师+护理专家+营养师 —— 协同管理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🧠 正念认知疗法（MBCT）：12周 → PFDI-20↓21.9%、GDS-15↓25.9%、SF-36↑10.8%（刘亚旗 2025）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🧠 Newman整体护理模式：SAS/SDS↓、SF-36↑、盆底肌力等级↑（Wang 2024，随机对照）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🧠 Greene健康教育+心理支持+行为指导：焦虑↓、抑郁↓、性生活质量↑、肌力EMG↑（Yuan 2024）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🧠 远程数字化DCP：教育+PFMT+实时生物反馈 → PHQ-9/GAD-7↓、满意度8.9/10（Janela 2024）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🧠 核心机制：正确认知PFD → 消除羞耻感与病耻感 → 提高治疗信心与依从性 → 正向反馈循环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综合护理与患者教育的实施框架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认知教育：PFD是可治疗的疾病，不是"年纪大了正常现象"—— 打消病耻感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行为指导：一对一盆底肌收缩动作教学 → 确保动作正确性 → 提供书面/视频材料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心理疏导：识别焦虑/抑郁信号 → 认知重构 → 必要时转介心理咨询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家庭支持：动员配偶/家人参与 → 理解疾病本质 → 提供情感与行为支持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随访管理：治疗后1周、4周、12周、24周评估 → 及时调整方案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数字化工具：微信/APP推送提醒+训练日志+在线咨询 → 提高可及性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第十二部分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综合治疗方案与临床效果评估</a:t>
            </a:r>
          </a:p>
        </p:txBody>
      </p:sp>
    </p:spTree>
  </p:cSld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PFD非手术治疗的综合策略——"五维一体"模式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🎯 维度一【物理治疗】：PFMT（基础）+电刺激/磁刺激/HIFEM（强化）—— 重建盆底肌力与耐力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🎯 维度二【行为干预】：体重管理+便秘防治+腹压控制+正确姿势 —— 消除致病因素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🎯 维度三【药物辅助】：阴道低剂量雌激素（绝经后）+中药内服（辨证施治）—— 改善组织状态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🎯 维度四【心理管理】：认知教育+正念疗法+心理支持 —— 打破"症状↔焦虑"恶性循环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🎯 维度五【数字化管理】：mHealth APP远程监测+在线指导+智能提醒 —— 提高长期依从性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0" name="tb"/>
          <p:cNvSpPr/>
          <p:nvPr/>
        </p:nvSpPr>
        <p:spPr>
          <a:xfrm>
            <a:off x="900000" y="367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💡 核心原则：联合治疗 &gt; 单一治疗 | 个体化方案 &gt; 标准化方案 | 长期管理 &gt; 短期干预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不同类型PFD的推荐非手术治疗方案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rect"/>
          <p:cNvSpPr/>
          <p:nvPr/>
        </p:nvSpPr>
        <p:spPr>
          <a:xfrm>
            <a:off x="792000" y="1296000"/>
            <a:ext cx="10620000" cy="324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828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PFD类型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一线方案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强化/联合方案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辅助措施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131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100" b="1">
                <a:solidFill>
                  <a:srgbClr val="FFFFFF"/>
                </a:solidFill>
                <a:latin typeface="微软雅黑"/>
                <a:ea typeface="微软雅黑"/>
              </a:rPr>
              <a:t>预期有效率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620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轻中度SUI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PFMT（≥12周）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PFMT+电刺激/磁刺激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减重+生活方式调整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163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70-90%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1944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重度SUI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PFMT+电刺激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磁刺激+HIFEM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阴道雌激素（绝经后）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1962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55-70%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268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POP（I-II期）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PFMT（核心协同训练）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PFMT+电刺激+中医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减重+便秘管理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2286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60-80%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592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OAB/UUI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PFMT+膀胱训练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电刺激（低频5-10Hz）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行为+饮食管理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2610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65-85%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2916000"/>
            <a:ext cx="10620000" cy="324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tb"/>
          <p:cNvSpPr/>
          <p:nvPr/>
        </p:nvSpPr>
        <p:spPr>
          <a:xfrm>
            <a:off x="828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慢性盆腔痛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PFMT+手法治疗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生物反馈+CBT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心理干预+放松训练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2934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60-75%</a:t>
            </a:r>
          </a:p>
        </p:txBody>
      </p:sp>
      <p:sp>
        <p:nvSpPr>
          <p:cNvPr id="0" name="rect"/>
          <p:cNvSpPr/>
          <p:nvPr/>
        </p:nvSpPr>
        <p:spPr>
          <a:xfrm>
            <a:off x="792000" y="3240000"/>
            <a:ext cx="10620000" cy="324000"/>
          </a:xfrm>
          <a:prstGeom prst="rect">
            <a:avLst/>
          </a:prstGeom>
          <a:solidFill>
            <a:srgbClr val="D6E4F0"/>
          </a:solidFill>
        </p:spPr>
      </p:sp>
      <p:sp>
        <p:nvSpPr>
          <p:cNvPr id="0" name="tb"/>
          <p:cNvSpPr/>
          <p:nvPr/>
        </p:nvSpPr>
        <p:spPr>
          <a:xfrm>
            <a:off x="828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产后PFD</a:t>
            </a:r>
          </a:p>
        </p:txBody>
      </p:sp>
      <p:sp>
        <p:nvSpPr>
          <p:cNvPr id="0" name="tb"/>
          <p:cNvSpPr/>
          <p:nvPr/>
        </p:nvSpPr>
        <p:spPr>
          <a:xfrm>
            <a:off x="2952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PFMT+生物反馈</a:t>
            </a:r>
          </a:p>
        </p:txBody>
      </p:sp>
      <p:sp>
        <p:nvSpPr>
          <p:cNvPr id="0" name="tb"/>
          <p:cNvSpPr/>
          <p:nvPr/>
        </p:nvSpPr>
        <p:spPr>
          <a:xfrm>
            <a:off x="5076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电刺激+康复操</a:t>
            </a:r>
          </a:p>
        </p:txBody>
      </p:sp>
      <p:sp>
        <p:nvSpPr>
          <p:cNvPr id="0" name="tb"/>
          <p:cNvSpPr/>
          <p:nvPr/>
        </p:nvSpPr>
        <p:spPr>
          <a:xfrm>
            <a:off x="7200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健康宣教+心理支持</a:t>
            </a:r>
          </a:p>
        </p:txBody>
      </p:sp>
      <p:sp>
        <p:nvSpPr>
          <p:cNvPr id="0" name="tb"/>
          <p:cNvSpPr/>
          <p:nvPr/>
        </p:nvSpPr>
        <p:spPr>
          <a:xfrm>
            <a:off x="9324000" y="3258000"/>
            <a:ext cx="2052000" cy="324000"/>
          </a:xfrm>
          <a:prstGeom prst="rect">
            <a:avLst/>
          </a:prstGeom>
          <a:noFill/>
        </p:spPr>
        <p:txBody>
          <a:bodyPr wrap="square"/>
          <a:p>
            <a:pPr algn="c"/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80-95%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非手术治疗效果的客观评估方法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盆底肌力评估：改良Oxford分级（0-5级）+ 阴道测压计（Peritron）定量测量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三维盆底超声：BND（膀胱颈移动度）、URA（尿道旋转角）、LHA（肛提肌裂孔面积）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尿动力学检查：最大尿道闭合压、腹压漏尿点压（ALPP）、膀胱顺应性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610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症状评分量表：ICI-Q-SF（尿失禁）、PFDI-20/PFIQ-7（盆底功能）、POP-Q（脱垂分度）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生活质量量表：SF-36、KHQ（King's健康问卷）、P-QOL（脱垂生活质量）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心理评估：GAD-7、PHQ-9、HADS — 在治疗前后同步评估心理状态变化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生物标志物：血清SOD/GSH-Px（抗氧化指标）→ 评估中医联合治疗效果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第十三部分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2024-2025年最新研究趋势</a:t>
            </a:r>
          </a:p>
        </p:txBody>
      </p:sp>
    </p:spTree>
  </p:cSld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2024-2025年五大研究热点与趋势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🔥 趋势一【联合治疗优于单一治疗】：PFMT+电刺激循证A级（Meta分析，Li 2025）；磁刺激+生物反馈有效率97.10%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🔥 趋势二【中西医结合客观化评估】：三维盆底超声验证补中益气汤联合效果（BND/URA/LHA均显著缩小，2025）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🔥 趋势三【再生医学从实验走向临床】：PRP注射（2次/间隔4-6周，维持3-6月）；干细胞注射初步临床探索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🔥 趋势四【数字化康复全面渗透】：mHealth APP+PFMT系统评价（Hao 2024）；远程DCP满意度8.9/10（Janela 2024）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🔥 趋势五【心理评估纳入常规管理】：多学科心理支持可"逆转"PFD导致的心理问题（Kalata 2024前瞻性研究）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0" name="tb"/>
          <p:cNvSpPr/>
          <p:nvPr/>
        </p:nvSpPr>
        <p:spPr>
          <a:xfrm>
            <a:off x="900000" y="367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📌 总趋势：从"单一技术"到"综合体系"、从"经验治疗"到"循证个体化"、从"被动康复"到"主动管理"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值得关注的前沿研究方向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PRP+PFMT联合方案：自体PRP注射增强组织修复+PFMT强化肌力 → 协同效应（Grigoriadis 2024）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AI辅助盆底超声诊断：深度学习自动测量BND/URA/LHA → 提高诊断效率与一致性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可穿戴盆底训练设备：智能阴道探头+手机APP → 实时反馈+游戏化训练 → 依从性↑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微生物组与PFD：阴道/肠道菌群失调可能与PFD相关 → 益生菌干预新方向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肠道菌群-盆底轴（Gut-Pelvic Axis）：短链脂肪酸（SCFAs）→ 影响胶原合成与炎症 → 新治疗靶点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民族基因组学研究：不同民族PFD易感基因筛查 → 精准预防策略的基础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54000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rect"/>
          <p:cNvSpPr/>
          <p:nvPr/>
        </p:nvSpPr>
        <p:spPr>
          <a:xfrm>
            <a:off x="5400000" y="0"/>
            <a:ext cx="6793200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0" name="line"/>
          <p:cNvSpPr/>
          <p:nvPr/>
        </p:nvSpPr>
        <p:spPr>
          <a:xfrm>
            <a:off x="1080000" y="3240000"/>
            <a:ext cx="10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700000"/>
            <a:ext cx="360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</a:rPr>
              <a:t>第十四部分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600000"/>
            <a:ext cx="36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D6E4F0"/>
                </a:solidFill>
                <a:latin typeface="微软雅黑"/>
                <a:ea typeface="微软雅黑"/>
              </a:rPr>
              <a:t>总结与未来展望</a:t>
            </a:r>
          </a:p>
        </p:txBody>
      </p:sp>
    </p:spTree>
  </p:cSld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核心要点总结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✅ PFD是高患病率的女性慢性疾病，约30%患者伴随焦虑/抑郁 —— 身心同治是基本原则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✅ 民族差异客观存在：苗族POP 51%、汉族UI 34% —— 遗传+环境+社会文化多因素综合作用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✅ 年龄是不可控但可预判的因素 —— 产后42天、围绝经期是两个"黄金干预窗口期"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✅ 九大可改变生活习惯因素中，久坐（OR=2.834）和肥胖（OR=2.318）是最强预测因子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✅ PFMT是所有PFD治疗的一线基石（Cochrane A级证据），联合治疗显著优于单一治疗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✅ 联合治疗总有效率：产后PFD 80-95%、轻中度SUI 70-90%、围绝经期PFD &gt;97%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67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✅ 补中益气汤+电刺激/生物反馈 —— 中西医协同标本兼治，是中国特色优势方案</a:t>
            </a:r>
          </a:p>
        </p:txBody>
      </p:sp>
      <p:sp>
        <p:nvSpPr>
          <p:cNvPr id="0" name="tb"/>
          <p:cNvSpPr/>
          <p:nvPr/>
        </p:nvSpPr>
        <p:spPr>
          <a:xfrm>
            <a:off x="900000" y="406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✅ 数字化康复+心理干预 → 提高依从性+改善心理健康 → 构建闭环管理体系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未来展望与行动建议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720000" y="1368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🎯 建立中国多民族PFD流行病学数据库 → 揭示民族特异性危险因素与保护因素</a:t>
            </a:r>
          </a:p>
        </p:txBody>
      </p:sp>
      <p:sp>
        <p:nvSpPr>
          <p:cNvPr id="0" name="tb"/>
          <p:cNvSpPr/>
          <p:nvPr/>
        </p:nvSpPr>
        <p:spPr>
          <a:xfrm>
            <a:off x="720000" y="1782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🎯 开展多中心RCT验证中西医联合方案 → 推动中医药纳入PFD临床诊疗指南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196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🎯 开发智能化盆底康复管理平台 → AI+可穿戴设备实现个性化远程康复</a:t>
            </a:r>
          </a:p>
        </p:txBody>
      </p:sp>
      <p:sp>
        <p:nvSpPr>
          <p:cNvPr id="0" name="tb"/>
          <p:cNvSpPr/>
          <p:nvPr/>
        </p:nvSpPr>
        <p:spPr>
          <a:xfrm>
            <a:off x="720000" y="2610000"/>
            <a:ext cx="504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🎯 将心理评估纳入PFD诊疗常规 → 精神科/心理科+盆底康复科多学科协作（MDT）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368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🎯 盆底健康教育纳入妇女保健基本公共卫生服务 → "人人享有盆底健康"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1782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🎯 关注民族地区盆底健康公平性 → 培养少数民族盆底康复人才</a:t>
            </a:r>
          </a:p>
        </p:txBody>
      </p:sp>
      <p:sp>
        <p:nvSpPr>
          <p:cNvPr id="0" name="tb"/>
          <p:cNvSpPr/>
          <p:nvPr/>
        </p:nvSpPr>
        <p:spPr>
          <a:xfrm>
            <a:off x="6120000" y="2196000"/>
            <a:ext cx="5580000" cy="414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● 🎯 从"治已病"到"治未病" → 加强青春期、孕期、产后、围绝经期盆底健康宣教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100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tb"/>
          <p:cNvSpPr/>
          <p:nvPr/>
        </p:nvSpPr>
        <p:spPr>
          <a:xfrm>
            <a:off x="720000" y="108000"/>
            <a:ext cx="1080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主要参考文献（2024-2025）</a:t>
            </a:r>
          </a:p>
        </p:txBody>
      </p:sp>
      <p:sp>
        <p:nvSpPr>
          <p:cNvPr id="0" name="line"/>
          <p:cNvSpPr/>
          <p:nvPr/>
        </p:nvSpPr>
        <p:spPr>
          <a:xfrm>
            <a:off x="720000" y="1044000"/>
            <a:ext cx="180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900000" y="129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1. Hay-Smith EJC, et al. PFMT for urinary incontinence. Cochrane Database Syst Rev, 2024.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169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2. Li et al. PFMT + Electrical Stimulation for SUI: Meta-analysis. Urol Int, 2025; 109(4): 425.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08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3. 邓米娜等. 盆底磁刺激联合盆底肌电生物反馈治疗围绝经期PFD. 中国综合临床, 2025.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48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4. 陆燕等. 补中益气颗粒联合生物反馈电刺激治疗中老年FPFD. 北京大学学报（医学版）, 2025.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288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5. 平璐依等. 补中益气汤联合生物反馈电刺激的盆底超声评估. 临床超声医学杂志, 2025.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27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6. Kalata et al. Successful Treatment of SUI/POP on Depression, Anxiety, Insomnia. J Clin Med, 2024.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367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7. Molina-Barea et al. HRQoL and Psychosocial Variables in Colorectal PFD. Physiother Theory Pract, 2024.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406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8. 刘亚旗等. 多学科心理支持联合正念认知对老年子宫脱垂患者的效果. 国际医药卫生导报, 2025.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446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9. Yuan et al. Health Education + Biofeedback ES on Pelvic Floor Psychology. Medicine, 2024; 103(34).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486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10. 付静等. 女性SUI新型保守治疗机制与临床转化进展. 昆明医科大学学报, 2025.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5256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11. Lv A, et al. Prevalence of PFD in Parous Women from Tibet. J Multidiscip Healthc, 2024.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5652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12. Janela et al. Digital Care Program for UI in Females. Healthcare, 2024; 12(2): 141.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6048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13. Grigoriadis T, et al. PRP for PFD. 2024.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6444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14. 文芳等. 294名苗族布依族汉族妇女PFD患病状况及比较分析. 贵州医科大学学报.</a:t>
            </a:r>
          </a:p>
        </p:txBody>
      </p:sp>
      <p:sp>
        <p:nvSpPr>
          <p:cNvPr id="0" name="tb"/>
          <p:cNvSpPr/>
          <p:nvPr/>
        </p:nvSpPr>
        <p:spPr>
          <a:xfrm>
            <a:off x="900000" y="6840000"/>
            <a:ext cx="10440000" cy="396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400" b="0">
                <a:solidFill>
                  <a:srgbClr val="333333"/>
                </a:solidFill>
                <a:latin typeface="微软雅黑"/>
                <a:ea typeface="微软雅黑"/>
              </a:rPr>
              <a:t>15. 邯郸市成年女性盆底肌力异常调查及影响因素分析. 海南医学, 2025.</a:t>
            </a:r>
          </a:p>
        </p:txBody>
      </p:sp>
      <p:sp>
        <p:nvSpPr>
          <p:cNvPr id="0" name="rect"/>
          <p:cNvSpPr/>
          <p:nvPr/>
        </p:nvSpPr>
        <p:spPr>
          <a:xfrm>
            <a:off x="11520000" y="6660000"/>
            <a:ext cx="673200" cy="198000"/>
          </a:xfrm>
          <a:prstGeom prst="rect">
            <a:avLst/>
          </a:prstGeom>
          <a:solidFill>
            <a:srgbClr val="2E75B6"/>
          </a:solidFill>
        </p:spPr>
      </p:sp>
    </p:spTree>
  </p:cSld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>
      <p:sp>
        <p:nvSpPr>
          <p:cNvPr id="0" name="rect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</p:spPr>
      </p:sp>
      <p:sp>
        <p:nvSpPr>
          <p:cNvPr id="0" name="line"/>
          <p:cNvSpPr/>
          <p:nvPr/>
        </p:nvSpPr>
        <p:spPr>
          <a:xfrm>
            <a:off x="1080000" y="3060000"/>
            <a:ext cx="2880000" cy="38100"/>
          </a:xfrm>
          <a:prstGeom prst="line">
            <a:avLst/>
          </a:prstGeom>
          <a:ln w="38100">
            <a:solidFill>
              <a:srgbClr val="C5A33F"/>
            </a:solidFill>
          </a:ln>
        </p:spPr>
      </p:sp>
      <p:sp>
        <p:nvSpPr>
          <p:cNvPr id="0" name="tb"/>
          <p:cNvSpPr/>
          <p:nvPr/>
        </p:nvSpPr>
        <p:spPr>
          <a:xfrm>
            <a:off x="1080000" y="2160000"/>
            <a:ext cx="10080000" cy="108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感谢聆听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3420000"/>
            <a:ext cx="1008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2400" b="0">
                <a:solidFill>
                  <a:srgbClr val="D6E4F0"/>
                </a:solidFill>
                <a:latin typeface="微软雅黑"/>
                <a:ea typeface="微软雅黑"/>
              </a:rPr>
              <a:t>欢迎提问与讨论</a:t>
            </a:r>
          </a:p>
        </p:txBody>
      </p:sp>
      <p:sp>
        <p:nvSpPr>
          <p:cNvPr id="0" name="tb"/>
          <p:cNvSpPr/>
          <p:nvPr/>
        </p:nvSpPr>
        <p:spPr>
          <a:xfrm>
            <a:off x="1080000" y="4680000"/>
            <a:ext cx="10080000" cy="720000"/>
          </a:xfrm>
          <a:prstGeom prst="rect">
            <a:avLst/>
          </a:prstGeom>
          <a:noFill/>
        </p:spPr>
        <p:txBody>
          <a:bodyPr wrap="square"/>
          <a:p>
            <a:pPr algn="l"/>
            <a:r>
              <a:rPr sz="1800" b="0">
                <a:solidFill>
                  <a:srgbClr val="C5A33F"/>
                </a:solidFill>
                <a:latin typeface="微软雅黑"/>
                <a:ea typeface="微软雅黑"/>
              </a:rPr>
              <a:t>关注女性盆底健康，从科学防治开始</a:t>
            </a:r>
          </a:p>
        </p:txBody>
      </p:sp>
    </p:spTree>
  </p:cSld>
</p:sld>
</file>

<file path=ppt/theme/theme1.xml><?xml version="1.0" encoding="utf-8"?>
<a:theme xmlns:a="http://schemas.openxmlformats.org/drawingml/2006/main" name="Professional">
  <a:themeElements>
    <a:clrScheme name="Professional">
      <a:dk1>
        <a:srgbClr val="000000"/>
      </a:dk1>
      <a:lt1>
        <a:srgbClr val="FFFFFF"/>
      </a:lt1>
      <a:dk2>
        <a:srgbClr val="1F4E79"/>
      </a:dk2>
      <a:lt2>
        <a:srgbClr val="D6E4F0"/>
      </a:lt2>
      <a:accent1>
        <a:srgbClr val="2E75B6"/>
      </a:accent1>
      <a:accent2>
        <a:srgbClr val="C5A33F"/>
      </a:accent2>
    </a:clrScheme>
    <a:fontScheme name="Professional">
      <a:majorFont>
        <a:latin typeface="微软雅黑"/>
        <a:ea typeface="微软雅黑"/>
      </a:majorFont>
      <a:minorFont>
        <a:latin typeface="微软雅黑"/>
        <a:ea typeface="微软雅黑"/>
      </a:minorFont>
    </a:fontScheme>
    <a:fmtScheme name="Professional">
      <a:fillStyleLst/>
      <a:lnStyleLst/>
      <a:effectStyleLst/>
      <a:bgFillStyleLst/>
    </a:fmtScheme>
  </a:themeElements>
</a:theme>
</file>